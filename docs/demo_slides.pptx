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097280"/>
            <a:ext cx="320040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DocuAlign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34D399"/>
                </a:solidFill>
                <a:latin typeface="Segoe UI"/>
              </a:defRPr>
            </a:pPr>
            <a:r>
              <a:t>AI-Powered Document Integrity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0A0B0"/>
                </a:solidFill>
                <a:latin typeface="Segoe UI"/>
              </a:defRPr>
            </a:pPr>
            <a:r>
              <a:t>Gemini 2.0 Flash × LangGraph × Google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Segoe UI"/>
              </a:defRPr>
            </a:pPr>
            <a:r>
              <a:t>ドキュメントの「サイレント劣化」をAIが自動検知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大企業が抱える「ドキュメント劣化」問題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既存ツールでは解決できない — 差分ではなく「意味的な矛盾」を検出する技術が存在しなかった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200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EF4444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の生産性が</a:t>
            </a:r>
            <a:br/>
            <a:r>
              <a:t>ドキュメント管理の</a:t>
            </a:r>
            <a:br/>
            <a:r>
              <a:t>非効率で失われている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0"/>
                </a:solidFill>
                <a:latin typeface="Segoe UI"/>
              </a:defRPr>
            </a:pPr>
            <a:r>
              <a:t>Iron Mountain 調査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200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0175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BBF24"/>
                </a:solidFill>
                <a:latin typeface="Segoe UI"/>
              </a:defRPr>
            </a:pPr>
            <a:r>
              <a:t>$19,732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/人・年のコストが</a:t>
            </a:r>
            <a:br/>
            <a:r>
              <a:t>情報検索・文書管理に</a:t>
            </a:r>
            <a:br/>
            <a:r>
              <a:t>費やされている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0"/>
                </a:solidFill>
                <a:latin typeface="Segoe UI"/>
              </a:defRPr>
            </a:pPr>
            <a:r>
              <a:t>IDC / Ripcord 調査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920240"/>
            <a:ext cx="32004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1945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0">
                <a:solidFill>
                  <a:srgbClr val="FFFFFF"/>
                </a:solidFill>
                <a:latin typeface="Segoe UI"/>
              </a:defRPr>
            </a:pPr>
            <a:r>
              <a:t>⏱️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175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60A5FA"/>
                </a:solidFill>
                <a:latin typeface="Segoe UI"/>
              </a:defRPr>
            </a:pPr>
            <a:r>
              <a:t>2.5h/日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Segoe UI"/>
              </a:defRPr>
            </a:pPr>
            <a:r>
              <a:t>を従業員が</a:t>
            </a:r>
            <a:br/>
            <a:r>
              <a:t>必要な情報の検索に</a:t>
            </a:r>
            <a:br/>
            <a:r>
              <a:t>費やしている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394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07080"/>
                </a:solidFill>
                <a:latin typeface="Segoe UI"/>
              </a:defRPr>
            </a:pPr>
            <a:r>
              <a:t>Forbes / McKinsey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Runtime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D399"/>
                </a:solidFill>
                <a:latin typeface="Segoe UI"/>
              </a:defRPr>
            </a:pPr>
            <a:r>
              <a:t>100% Google Cloud — Serverless &amp; Fully Managed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210312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👤 ユーザー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ブラウザ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71600"/>
            <a:ext cx="210312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4173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Cloud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659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Streamlit 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371600"/>
            <a:ext cx="210312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4173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LangGraph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9659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自律型Agent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371600"/>
            <a:ext cx="210312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Vertex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9659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Gemini 2.0 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1371600"/>
            <a:ext cx="210312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0" y="141732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Firestore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19659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結果保存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📄 データソース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291840"/>
            <a:ext cx="256032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337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Google Drive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63931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ドキュメント取得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4069080"/>
            <a:ext cx="256032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Cloud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416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ファイル保存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4846320"/>
            <a:ext cx="256032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892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Google Docs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19379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リアルタイム同期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⚙️ インフラストラクチャ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3291840"/>
            <a:ext cx="173736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33375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Cloud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363931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非同期処理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120640" y="3291840"/>
            <a:ext cx="173736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2080" y="33375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Pub/Sub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363931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リアルタイム通知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40880" y="3291840"/>
            <a:ext cx="173736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0" y="33375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Eventarc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363931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イベントトリガー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🔒 セキュリティ &amp; 運用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3291840"/>
            <a:ext cx="256032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33375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Secret 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363931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機密情報管理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0" y="4069080"/>
            <a:ext cx="256032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544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Cloud Logging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5440" y="4416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監査ログ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0" y="4846320"/>
            <a:ext cx="256032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5440" y="4892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Segoe UI"/>
              </a:defRPr>
            </a:pPr>
            <a:r>
              <a:t>IAM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519379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アクセス制御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6035040"/>
            <a:ext cx="11612880" cy="59436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F172A"/>
                </a:solidFill>
                <a:latin typeface="Segoe UI"/>
              </a:defRPr>
            </a:pPr>
            <a:r>
              <a:t>💡 差別化: テキスト意味矛盾 + 画像劣化のマルチモーダル検出 — LangGraph エージェントが自律実行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Development with Google AntiGravity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4D399"/>
                </a:solidFill>
                <a:latin typeface="Segoe UI"/>
              </a:defRPr>
            </a:pPr>
            <a:r>
              <a:t>AI-Assisted Coding — 設計から本番デプロイまで一気通貫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371600"/>
            <a:ext cx="21031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🧑‍💻 Developer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9659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設計 &amp; コーディング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828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371600"/>
            <a:ext cx="21031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AntiGravity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9659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AI アシスト</a:t>
            </a:r>
            <a:br/>
            <a:r>
              <a:t>コード生成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371600"/>
            <a:ext cx="21031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9659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バージョン管理</a:t>
            </a:r>
            <a:br/>
            <a:r>
              <a:t>PR &amp; Code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28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371600"/>
            <a:ext cx="21031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Cloud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19659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CI/CD</a:t>
            </a:r>
            <a:br/>
            <a:r>
              <a:t>自動ビルド &amp; テスト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18288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371600"/>
            <a:ext cx="21031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  <a:latin typeface="Segoe UI"/>
              </a:defRPr>
            </a:pPr>
            <a:r>
              <a:t>Cloud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19659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本番デプロイ</a:t>
            </a:r>
            <a:br/>
            <a:r>
              <a:t>自動スケーリング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108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🛠️ AntiGravity が支援した開発領域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" y="3566160"/>
            <a:ext cx="210312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36576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Architecture</a:t>
            </a:r>
            <a:br/>
            <a:r>
              <a:t>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3434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GCPサービス構成</a:t>
            </a:r>
            <a:br/>
            <a:r>
              <a:t>最適な設計を提案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5303520"/>
            <a:ext cx="1828800" cy="45720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53309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Segoe UI"/>
              </a:defRPr>
            </a:pPr>
            <a:r>
              <a:t>設計時間 60%削減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60320" y="3566160"/>
            <a:ext cx="210312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51760" y="36576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  <a:latin typeface="Segoe UI"/>
              </a:defRPr>
            </a:pPr>
            <a:r>
              <a:t>LangGraph</a:t>
            </a:r>
            <a:br/>
            <a:r>
              <a:t>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3434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エージェント</a:t>
            </a:r>
            <a:br/>
            <a:r>
              <a:t>パイプライン実装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97480" y="5303520"/>
            <a:ext cx="182880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97480" y="53309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Segoe UI"/>
              </a:defRPr>
            </a:pPr>
            <a:r>
              <a:t>実装速度 3倍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0" y="3566160"/>
            <a:ext cx="210312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0" y="36576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Streamlit</a:t>
            </a:r>
            <a:br/>
            <a:r>
              <a:t>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43434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UI/UXデザイン</a:t>
            </a:r>
            <a:br/>
            <a:r>
              <a:t>コンポーネント生成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74920" y="5303520"/>
            <a:ext cx="1828800" cy="45720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74920" y="53309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Segoe UI"/>
              </a:defRPr>
            </a:pPr>
            <a:r>
              <a:t>UI開発 70%削減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0" y="3566160"/>
            <a:ext cx="210312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36576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  <a:latin typeface="Segoe UI"/>
              </a:defRPr>
            </a:pPr>
            <a:r>
              <a:t>Unit &amp; E2E</a:t>
            </a:r>
            <a:br/>
            <a:r>
              <a:t>Tests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43434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テストケース</a:t>
            </a:r>
            <a:br/>
            <a:r>
              <a:t>自動生成・実行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52360" y="5303520"/>
            <a:ext cx="182880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52360" y="53309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Segoe UI"/>
              </a:defRPr>
            </a:pPr>
            <a:r>
              <a:t>テスト工数 80%削減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92640" y="3566160"/>
            <a:ext cx="210312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84080" y="365760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Documentation</a:t>
            </a:r>
            <a:br/>
            <a:r>
              <a:t>&amp; Slides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0" y="43434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0B0"/>
                </a:solidFill>
                <a:latin typeface="Segoe UI"/>
              </a:defRPr>
            </a:pPr>
            <a:r>
              <a:t>コード・プレゼン</a:t>
            </a:r>
            <a:br/>
            <a:r>
              <a:t>資料の自動生成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29800" y="5303520"/>
            <a:ext cx="1828800" cy="45720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9800" y="53309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Segoe UI"/>
              </a:defRPr>
            </a:pPr>
            <a:r>
              <a:t>ドキュメント 90%自動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6400800"/>
            <a:ext cx="11612880" cy="2286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🤖 アーキテクチャ &amp; コア技術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1. 取得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Google Drive</a:t>
            </a:r>
            <a:br/>
            <a:r>
              <a:t>から文書取得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2. 検索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Agent Builder</a:t>
            </a:r>
            <a:br/>
            <a:r>
              <a:t>で関連文書検索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3. 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Gemini 2.0</a:t>
            </a:r>
            <a:br/>
            <a:r>
              <a:t>テキスト矛盾検出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D399"/>
                </a:solidFill>
                <a:latin typeface="Segoe UI"/>
              </a:defRPr>
            </a:pPr>
            <a:r>
              <a:t>4. 画像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Gemini 2.0</a:t>
            </a:r>
            <a:br/>
            <a:r>
              <a:t>スクショ劣化検出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2860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4D3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645920"/>
            <a:ext cx="201168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5. 提案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37744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Segoe UI"/>
              </a:defRPr>
            </a:pPr>
            <a:r>
              <a:t>修正提案</a:t>
            </a:r>
            <a:br/>
            <a:r>
              <a:t>自動生成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40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☁️ Google Cloud サービス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Cloud Run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サーバーレス</a:t>
            </a:r>
            <a:br/>
            <a:r>
              <a:t>ホスティング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0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Firestore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スキャン結果</a:t>
            </a:r>
            <a:br/>
            <a:r>
              <a:t>保存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GCS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ドキュメント</a:t>
            </a:r>
            <a:br/>
            <a:r>
              <a:t>ストレージ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52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Eventarc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イベント</a:t>
            </a:r>
            <a:br/>
            <a:r>
              <a:t>トリガー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01200" y="4389120"/>
            <a:ext cx="20116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45262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  <a:latin typeface="Segoe UI"/>
              </a:defRPr>
            </a:pPr>
            <a:r>
              <a:t>Pub/Sub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493776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0B0"/>
                </a:solidFill>
                <a:latin typeface="Segoe UI"/>
              </a:defRPr>
            </a:pPr>
            <a:r>
              <a:t>リアルタイム</a:t>
            </a:r>
            <a:br/>
            <a:r>
              <a:t>通知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💡 差別化: テキスト意味矛盾 + 画像劣化のマルチモーダル検出 — LangGraphエージェントが自律実行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📈 導入効果 — Before /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Segoe UI"/>
              </a:defRPr>
            </a:pPr>
            <a:r>
              <a:t>50人規模の技術組織における年間試算（ドキュメント200件想定）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項目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280160"/>
            <a:ext cx="292608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Before（従来）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80160"/>
            <a:ext cx="2926080" cy="36576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280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After（DocuAlign AI）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280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4D399"/>
                </a:solidFill>
                <a:latin typeface="Segoe UI"/>
              </a:defRPr>
            </a:pPr>
            <a:r>
              <a:t>削減効果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737360"/>
            <a:ext cx="11612880" cy="1005840"/>
          </a:xfrm>
          <a:prstGeom prst="roundRect">
            <a:avLst/>
          </a:prstGeom>
          <a:solidFill>
            <a:srgbClr val="15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ドキュメント整合性チェック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  <a:latin typeface="Segoe UI"/>
              </a:defRPr>
            </a:pPr>
            <a:r>
              <a:t>手動レビュー</a:t>
            </a:r>
            <a:br/>
            <a:r>
              <a:t>40h/月 × 12 = 480h/年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783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Segoe UI"/>
              </a:defRPr>
            </a:pPr>
            <a:r>
              <a:t>AI自動スキャン</a:t>
            </a:r>
            <a:br/>
            <a:r>
              <a:t>2h/月 × 12 = 24h/年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0" y="1828800"/>
            <a:ext cx="118872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18288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286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時間削減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8803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古い手順書による障害対応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8803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  <a:latin typeface="Segoe UI"/>
              </a:defRPr>
            </a:pPr>
            <a:r>
              <a:t>月3件 × 復旧4h</a:t>
            </a:r>
            <a:br/>
            <a:r>
              <a:t>= 144h/年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8803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Segoe UI"/>
              </a:defRPr>
            </a:pPr>
            <a:r>
              <a:t>月0.5件 × 復旧4h</a:t>
            </a:r>
            <a:br/>
            <a:r>
              <a:t>= 24h/年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2926080"/>
            <a:ext cx="118872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29260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33832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インシデント減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931919"/>
            <a:ext cx="11612880" cy="1005840"/>
          </a:xfrm>
          <a:prstGeom prst="roundRect">
            <a:avLst/>
          </a:prstGeom>
          <a:solidFill>
            <a:srgbClr val="15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977639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新人オンボーディング遅延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7763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  <a:latin typeface="Segoe UI"/>
              </a:defRPr>
            </a:pPr>
            <a:r>
              <a:t>古い手順で平均</a:t>
            </a:r>
            <a:br/>
            <a:r>
              <a:t>+2日/人 × 20人 = 40日/年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97763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Segoe UI"/>
              </a:defRPr>
            </a:pPr>
            <a:r>
              <a:t>最新ドキュメント維持</a:t>
            </a:r>
            <a:br/>
            <a:r>
              <a:t>+0.5日/人 = 10日/年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0" y="4023359"/>
            <a:ext cx="118872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402335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48055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遅延削減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0749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コンプライアンス違反リスク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074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F4444"/>
                </a:solidFill>
                <a:latin typeface="Segoe UI"/>
              </a:defRPr>
            </a:pPr>
            <a:r>
              <a:t>手動監査</a:t>
            </a:r>
            <a:br/>
            <a:r>
              <a:t>年2回 × 80h = 160h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50749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Segoe UI"/>
              </a:defRPr>
            </a:pPr>
            <a:r>
              <a:t>常時監視 + アラート</a:t>
            </a:r>
            <a:br/>
            <a:r>
              <a:t>年2回 × 20h = 40h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18320" y="5120640"/>
            <a:ext cx="1188720" cy="45720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51206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172A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577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0A0B0"/>
                </a:solidFill>
                <a:latin typeface="Segoe UI"/>
              </a:defRPr>
            </a:pPr>
            <a:r>
              <a:t>監査工数減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5943600"/>
            <a:ext cx="1161288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9893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💰 年間コスト削減効果（人件費単価 ¥6,000/h 試算）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9436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34D399"/>
                </a:solidFill>
                <a:latin typeface="Segoe UI"/>
              </a:defRPr>
            </a:pPr>
            <a:r>
              <a:t>約480万円 / 年　（800h × ¥6,000）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45720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"/>
              </a:defRPr>
            </a:pPr>
            <a:r>
              <a:t>DocuAlign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Segoe UI"/>
              </a:defRPr>
            </a:pPr>
            <a:r>
              <a:t>ドキュメントの「サイレント劣化」を</a:t>
            </a:r>
            <a:br/>
            <a:r>
              <a:t>AIが自動で検知・修正提案する世界へ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3657600"/>
            <a:ext cx="66751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379476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  <a:latin typeface="Segoe UI"/>
              </a:defRPr>
            </a:pPr>
            <a:r>
              <a:t>🔗 GitHub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297680"/>
            <a:ext cx="5760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4D399"/>
                </a:solidFill>
                <a:latin typeface="Segoe UI"/>
              </a:defRPr>
            </a:pPr>
            <a:r>
              <a:t>github.com/Koki0812/docugardener-agent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