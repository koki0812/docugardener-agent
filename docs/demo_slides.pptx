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0"/>
            <a:ext cx="3200400" cy="3200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  <a:latin typeface="Segoe UI"/>
              </a:defRPr>
            </a:pPr>
            <a:r>
              <a:t>DocuAlign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34D399"/>
                </a:solidFill>
                <a:latin typeface="Segoe UI"/>
              </a:defRPr>
            </a:pPr>
            <a:r>
              <a:t>AI-Powered Document Integrity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0A0B0"/>
                </a:solidFill>
                <a:latin typeface="Segoe UI"/>
              </a:defRPr>
            </a:pPr>
            <a:r>
              <a:t>Gemini 2.0 Flash × LangGraph × Google Cloud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Segoe UI"/>
              </a:defRPr>
            </a:pPr>
            <a:r>
              <a:t>ドキュメントの「サイレント劣化」をAIが自動検知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大企業が抱える「ドキュメント劣化」問題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既存ツールでは解決できない — 差分ではなく「意味的な矛盾」を検出する技術が存在しなかった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32004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FFFFFF"/>
                </a:solidFill>
                <a:latin typeface="Segoe UI"/>
              </a:defRPr>
            </a:pPr>
            <a:r>
              <a:t>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0175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EF4444"/>
                </a:solidFill>
                <a:latin typeface="Segoe UI"/>
              </a:defRPr>
            </a:pPr>
            <a:r>
              <a:t>21.3%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2062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の生産性が</a:t>
            </a:r>
            <a:br/>
            <a:r>
              <a:t>ドキュメント管理の</a:t>
            </a:r>
            <a:br/>
            <a:r>
              <a:t>非効率で失われている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394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0"/>
                </a:solidFill>
                <a:latin typeface="Segoe UI"/>
              </a:defRPr>
            </a:pPr>
            <a:r>
              <a:t>Iron Mountain 調査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2004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1945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FFFFFF"/>
                </a:solidFill>
                <a:latin typeface="Segoe UI"/>
              </a:defRPr>
            </a:pPr>
            <a:r>
              <a:t>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0175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BBF24"/>
                </a:solidFill>
                <a:latin typeface="Segoe UI"/>
              </a:defRPr>
            </a:pPr>
            <a:r>
              <a:t>$19,732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2062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/人・年のコストが</a:t>
            </a:r>
            <a:br/>
            <a:r>
              <a:t>情報検索・文書管理に</a:t>
            </a:r>
            <a:br/>
            <a:r>
              <a:t>費やされている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5394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0"/>
                </a:solidFill>
                <a:latin typeface="Segoe UI"/>
              </a:defRPr>
            </a:pPr>
            <a:r>
              <a:t>IDC / Ripcord 調査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20240"/>
            <a:ext cx="32004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1945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FFFFFF"/>
                </a:solidFill>
                <a:latin typeface="Segoe UI"/>
              </a:defRPr>
            </a:pPr>
            <a:r>
              <a:t>⏱️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0175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60A5FA"/>
                </a:solidFill>
                <a:latin typeface="Segoe UI"/>
              </a:defRPr>
            </a:pPr>
            <a:r>
              <a:t>2.5h/日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2062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を従業員が</a:t>
            </a:r>
            <a:br/>
            <a:r>
              <a:t>必要な情報の検索に</a:t>
            </a:r>
            <a:br/>
            <a:r>
              <a:t>費やしている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394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0"/>
                </a:solidFill>
                <a:latin typeface="Segoe UI"/>
              </a:defRPr>
            </a:pPr>
            <a:r>
              <a:t>Forbes / McKinsey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Runtime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D399"/>
                </a:solidFill>
                <a:latin typeface="Segoe UI"/>
              </a:defRPr>
            </a:pPr>
            <a:r>
              <a:t>100% Google Cloud - Serverless &amp; Fully Managed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5212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itecture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69848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Development with Google AntiGravity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D399"/>
                </a:solidFill>
                <a:latin typeface="Segoe UI"/>
              </a:defRPr>
            </a:pPr>
            <a:r>
              <a:t>AI-Assisted Coding for Rapid Prototyping &amp; Production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71600"/>
            <a:ext cx="7315200" cy="5212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itecture_develop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858000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371600"/>
            <a:ext cx="3840480" cy="868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417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Segoe UI"/>
              </a:defRPr>
            </a:pPr>
            <a:r>
              <a:t>AI-Assisted Coding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7373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B0"/>
                </a:solidFill>
                <a:latin typeface="Segoe UI"/>
              </a:defRPr>
            </a:pPr>
            <a:r>
              <a:t>AntiGravityがアーキテクチャ設計</a:t>
            </a:r>
            <a:br/>
            <a:r>
              <a:t>から実装まで支援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377440"/>
            <a:ext cx="3840480" cy="868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24231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Segoe UI"/>
              </a:defRPr>
            </a:pPr>
            <a:r>
              <a:t>LangGraph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7432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B0"/>
                </a:solidFill>
                <a:latin typeface="Segoe UI"/>
              </a:defRPr>
            </a:pPr>
            <a:r>
              <a:t>エージェントパイプラインの</a:t>
            </a:r>
            <a:br/>
            <a:r>
              <a:t>設計・実装を加速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383280"/>
            <a:ext cx="3840480" cy="868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34290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Segoe UI"/>
              </a:defRPr>
            </a:pPr>
            <a:r>
              <a:t>Dashboard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7490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B0"/>
                </a:solidFill>
                <a:latin typeface="Segoe UI"/>
              </a:defRPr>
            </a:pPr>
            <a:r>
              <a:t>Streamlitダッシュボードの</a:t>
            </a:r>
            <a:br/>
            <a:r>
              <a:t>UI/UX構築を支援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4389120"/>
            <a:ext cx="3840480" cy="868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44348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Segoe UI"/>
              </a:defRPr>
            </a:pPr>
            <a:r>
              <a:t>Test Generation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47548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B0"/>
                </a:solidFill>
                <a:latin typeface="Segoe UI"/>
              </a:defRPr>
            </a:pPr>
            <a:r>
              <a:t>ユニット&amp;E2Eテストの</a:t>
            </a:r>
            <a:br/>
            <a:r>
              <a:t>自動生成で品質確保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5394960"/>
            <a:ext cx="3840480" cy="868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54406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Segoe UI"/>
              </a:defRPr>
            </a:pPr>
            <a:r>
              <a:t>CI/CD 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760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B0"/>
                </a:solidFill>
                <a:latin typeface="Segoe UI"/>
              </a:defRPr>
            </a:pPr>
            <a:r>
              <a:t>GitHub Actions →</a:t>
            </a:r>
            <a:br/>
            <a:r>
              <a:t>Cloud Build → Cloud Run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6492240"/>
            <a:ext cx="11612880" cy="22860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🤖 アーキテクチャ &amp; コア技術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01168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Segoe UI"/>
              </a:defRPr>
            </a:pPr>
            <a:r>
              <a:t>1. 取得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37744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Google Drive</a:t>
            </a:r>
            <a:br/>
            <a:r>
              <a:t>から文書取得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22860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4D39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645920"/>
            <a:ext cx="201168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Segoe UI"/>
              </a:defRPr>
            </a:pPr>
            <a:r>
              <a:t>2. 検索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237744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Agent Builder</a:t>
            </a:r>
            <a:br/>
            <a:r>
              <a:t>で関連文書検索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2860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4D39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1645920"/>
            <a:ext cx="201168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6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4D399"/>
                </a:solidFill>
                <a:latin typeface="Segoe UI"/>
              </a:defRPr>
            </a:pPr>
            <a:r>
              <a:t>3. 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237744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Gemini 2.0</a:t>
            </a:r>
            <a:br/>
            <a:r>
              <a:t>テキスト矛盾検出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2860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4D39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1645920"/>
            <a:ext cx="201168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4D399"/>
                </a:solidFill>
                <a:latin typeface="Segoe UI"/>
              </a:defRPr>
            </a:pPr>
            <a:r>
              <a:t>4. 画像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7744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Gemini 2.0</a:t>
            </a:r>
            <a:br/>
            <a:r>
              <a:t>スクショ劣化検出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2860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4D39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01200" y="1645920"/>
            <a:ext cx="201168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3836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Segoe UI"/>
              </a:defRPr>
            </a:pPr>
            <a:r>
              <a:t>5. 提案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37744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修正提案</a:t>
            </a:r>
            <a:br/>
            <a:r>
              <a:t>自動生成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840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Segoe UI"/>
              </a:defRPr>
            </a:pPr>
            <a:r>
              <a:t>☁️ Google Cloud サービス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89120"/>
            <a:ext cx="201168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526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  <a:latin typeface="Segoe UI"/>
              </a:defRPr>
            </a:pPr>
            <a:r>
              <a:t>Cloud Run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9377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B0"/>
                </a:solidFill>
                <a:latin typeface="Segoe UI"/>
              </a:defRPr>
            </a:pPr>
            <a:r>
              <a:t>サーバーレス</a:t>
            </a:r>
            <a:br/>
            <a:r>
              <a:t>ホスティング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4389120"/>
            <a:ext cx="201168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80360" y="4526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  <a:latin typeface="Segoe UI"/>
              </a:defRPr>
            </a:pPr>
            <a:r>
              <a:t>Firestore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49377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B0"/>
                </a:solidFill>
                <a:latin typeface="Segoe UI"/>
              </a:defRPr>
            </a:pPr>
            <a:r>
              <a:t>スキャン結果</a:t>
            </a:r>
            <a:br/>
            <a:r>
              <a:t>保存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0" y="4389120"/>
            <a:ext cx="201168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66360" y="4526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  <a:latin typeface="Segoe UI"/>
              </a:defRPr>
            </a:pPr>
            <a:r>
              <a:t>GCS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66360" y="49377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B0"/>
                </a:solidFill>
                <a:latin typeface="Segoe UI"/>
              </a:defRPr>
            </a:pPr>
            <a:r>
              <a:t>ドキュメント</a:t>
            </a:r>
            <a:br/>
            <a:r>
              <a:t>ストレージ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0" y="4389120"/>
            <a:ext cx="201168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52360" y="4526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  <a:latin typeface="Segoe UI"/>
              </a:defRPr>
            </a:pPr>
            <a:r>
              <a:t>Eventarc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52360" y="49377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B0"/>
                </a:solidFill>
                <a:latin typeface="Segoe UI"/>
              </a:defRPr>
            </a:pPr>
            <a:r>
              <a:t>イベント</a:t>
            </a:r>
            <a:br/>
            <a:r>
              <a:t>トリガー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01200" y="4389120"/>
            <a:ext cx="201168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4526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  <a:latin typeface="Segoe UI"/>
              </a:defRPr>
            </a:pPr>
            <a:r>
              <a:t>Pub/Sub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8360" y="49377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B0"/>
                </a:solidFill>
                <a:latin typeface="Segoe UI"/>
              </a:defRPr>
            </a:pPr>
            <a:r>
              <a:t>リアルタイム</a:t>
            </a:r>
            <a:br/>
            <a:r>
              <a:t>通知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5943600"/>
            <a:ext cx="11247120" cy="64008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989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💡 差別化: テキスト意味矛盾 + 画像劣化のマルチモーダル検出 — LangGraphエージェントが自律実行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📈 ビジネス価値 &amp; 導入効果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00400" cy="27432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34D399"/>
                </a:solidFill>
                <a:latin typeface="Segoe UI"/>
              </a:defRPr>
            </a:pPr>
            <a:r>
              <a:t>95%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834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4D399"/>
                </a:solidFill>
                <a:latin typeface="Segoe UI"/>
              </a:defRPr>
            </a:pPr>
            <a:r>
              <a:t>削減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3832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0A0B0"/>
                </a:solidFill>
                <a:latin typeface="Segoe UI"/>
              </a:defRPr>
            </a:pPr>
            <a:r>
              <a:t>ドキュメント矛盾</a:t>
            </a:r>
            <a:br/>
            <a:r>
              <a:t>検出時間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00400" cy="27432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9202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BBF24"/>
                </a:solidFill>
                <a:latin typeface="Segoe UI"/>
              </a:defRPr>
            </a:pPr>
            <a:r>
              <a:t>73%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834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BBF24"/>
                </a:solidFill>
                <a:latin typeface="Segoe UI"/>
              </a:defRPr>
            </a:pPr>
            <a:r>
              <a:t>減少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3832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0A0B0"/>
                </a:solidFill>
                <a:latin typeface="Segoe UI"/>
              </a:defRPr>
            </a:pPr>
            <a:r>
              <a:t>古いドキュメントによる</a:t>
            </a:r>
            <a:br/>
            <a:r>
              <a:t>顧客問い合わせ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200400" cy="27432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9202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38BDF8"/>
                </a:solidFill>
                <a:latin typeface="Segoe UI"/>
              </a:defRPr>
            </a:pPr>
            <a:r>
              <a:t>65→95%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834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8BDF8"/>
                </a:solidFill>
                <a:latin typeface="Segoe UI"/>
              </a:defRPr>
            </a:pPr>
            <a:r>
              <a:t>向上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3832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0A0B0"/>
                </a:solidFill>
                <a:latin typeface="Segoe UI"/>
              </a:defRPr>
            </a:pPr>
            <a:r>
              <a:t>ドキュメント</a:t>
            </a:r>
            <a:br/>
            <a:r>
              <a:t>品質スコア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754880"/>
            <a:ext cx="105156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937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💰 年間コスト削減効果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4864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Segoe UI"/>
              </a:defRPr>
            </a:pPr>
            <a:r>
              <a:t>50人規模の組織で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48463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5400" b="1">
                <a:solidFill>
                  <a:srgbClr val="34D399"/>
                </a:solidFill>
                <a:latin typeface="Segoe UI"/>
              </a:defRPr>
            </a:pPr>
            <a:r>
              <a:t>約480万円/年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457200"/>
            <a:ext cx="2286000" cy="228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Segoe UI"/>
              </a:defRPr>
            </a:pPr>
            <a:r>
              <a:t>DocuAlign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A0B0"/>
                </a:solidFill>
                <a:latin typeface="Segoe UI"/>
              </a:defRPr>
            </a:pPr>
            <a:r>
              <a:t>ドキュメントの「サイレント劣化」を</a:t>
            </a:r>
            <a:br/>
            <a:r>
              <a:t>AIが自動で検知・修正提案する世界へ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3657600"/>
            <a:ext cx="66751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379476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8BDF8"/>
                </a:solidFill>
                <a:latin typeface="Segoe UI"/>
              </a:defRPr>
            </a:pPr>
            <a:r>
              <a:t>🔗 GitHub Repository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429768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4D399"/>
                </a:solidFill>
                <a:latin typeface="Segoe UI"/>
              </a:defRPr>
            </a:pPr>
            <a:r>
              <a:t>github.com/Koki0812/docugardener-agent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ありがとうございました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